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146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1930" y="3571875"/>
            <a:ext cx="65" cy="1179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sz="9350" dirty="0"/>
          </a:p>
        </p:txBody>
      </p:sp>
      <p:sp>
        <p:nvSpPr>
          <p:cNvPr id="4" name="Text 1"/>
          <p:cNvSpPr/>
          <p:nvPr/>
        </p:nvSpPr>
        <p:spPr>
          <a:xfrm>
            <a:off x="714375" y="1864156"/>
            <a:ext cx="3850928" cy="7543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950" b="1" kern="0" spc="-2" dirty="0">
                <a:solidFill>
                  <a:srgbClr val="12377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5월의 어느날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714375" y="3047144"/>
            <a:ext cx="3850928" cy="2321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8584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4팀 | 곽지환,김기범,김도율,채성현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46769" y="628650"/>
            <a:ext cx="3250462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게임 스테이지 흐름 요약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932734" y="1605558"/>
            <a:ext cx="4205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8BC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1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821531" y="1778794"/>
            <a:ext cx="642938" cy="642938"/>
          </a:xfrm>
          <a:prstGeom prst="ellipse">
            <a:avLst/>
          </a:prstGeom>
          <a:solidFill>
            <a:srgbClr val="12377A"/>
          </a:solidFill>
          <a:ln w="27432">
            <a:solidFill>
              <a:srgbClr val="1237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3" y="1985963"/>
            <a:ext cx="25717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5097" y="2564606"/>
            <a:ext cx="735806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C프로그래밍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67144" y="2803196"/>
            <a:ext cx="751712" cy="25003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튜토리얼 및
기초 기믹 파악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2304334" y="1605558"/>
            <a:ext cx="4205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8BC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2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193131" y="1778794"/>
            <a:ext cx="642938" cy="642938"/>
          </a:xfrm>
          <a:prstGeom prst="ellipse">
            <a:avLst/>
          </a:prstGeom>
          <a:solidFill>
            <a:srgbClr val="12377A"/>
          </a:solidFill>
          <a:ln w="27432">
            <a:solidFill>
              <a:srgbClr val="1237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300" y="1985963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57425" y="2564606"/>
            <a:ext cx="5143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이산수학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044173" y="2803196"/>
            <a:ext cx="940854" cy="25003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논리 게이트(GATE)
활용 블록 파괴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3675934" y="1605558"/>
            <a:ext cx="4205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8BC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3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3564731" y="1778794"/>
            <a:ext cx="642938" cy="642938"/>
          </a:xfrm>
          <a:prstGeom prst="ellipse">
            <a:avLst/>
          </a:prstGeom>
          <a:solidFill>
            <a:srgbClr val="12377A"/>
          </a:solidFill>
          <a:ln w="27432">
            <a:solidFill>
              <a:srgbClr val="1237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7613" y="1985963"/>
            <a:ext cx="257175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29025" y="2564606"/>
            <a:ext cx="5143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객체지향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3569670" y="2803196"/>
            <a:ext cx="633031" cy="25003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계층구조 및
중간 보스전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5066091" y="1605558"/>
            <a:ext cx="3834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8BC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HIDDEN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4936331" y="1778794"/>
            <a:ext cx="642938" cy="642938"/>
          </a:xfrm>
          <a:prstGeom prst="ellipse">
            <a:avLst/>
          </a:prstGeom>
          <a:solidFill>
            <a:srgbClr val="FFFFFF"/>
          </a:solidFill>
          <a:ln w="27432">
            <a:solidFill>
              <a:srgbClr val="85848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788" y="1985963"/>
            <a:ext cx="200025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00625" y="2564606"/>
            <a:ext cx="5143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점심시간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881944" y="2803196"/>
            <a:ext cx="751712" cy="25003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스토리 환기 및
메뉴 조합 요소</a:t>
            </a:r>
            <a:endParaRPr lang="en-US" sz="650" dirty="0"/>
          </a:p>
        </p:txBody>
      </p:sp>
      <p:sp>
        <p:nvSpPr>
          <p:cNvPr id="24" name="Text 17"/>
          <p:cNvSpPr/>
          <p:nvPr/>
        </p:nvSpPr>
        <p:spPr>
          <a:xfrm>
            <a:off x="6419134" y="1605558"/>
            <a:ext cx="4205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8BC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4</a:t>
            </a:r>
            <a:endParaRPr lang="en-US" sz="700" dirty="0"/>
          </a:p>
        </p:txBody>
      </p:sp>
      <p:sp>
        <p:nvSpPr>
          <p:cNvPr id="25" name="Shape 18"/>
          <p:cNvSpPr/>
          <p:nvPr/>
        </p:nvSpPr>
        <p:spPr>
          <a:xfrm>
            <a:off x="6307931" y="1778794"/>
            <a:ext cx="642938" cy="642938"/>
          </a:xfrm>
          <a:prstGeom prst="ellipse">
            <a:avLst/>
          </a:prstGeom>
          <a:solidFill>
            <a:srgbClr val="12377A"/>
          </a:solidFill>
          <a:ln w="27432">
            <a:solidFill>
              <a:srgbClr val="1237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9388" y="1985963"/>
            <a:ext cx="200025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72225" y="2564606"/>
            <a:ext cx="5143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자료구조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6212105" y="2803196"/>
            <a:ext cx="834591" cy="232172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트리 구조 및
Stack/Queue HP</a:t>
            </a:r>
            <a:endParaRPr lang="en-US" sz="650" dirty="0"/>
          </a:p>
        </p:txBody>
      </p:sp>
      <p:sp>
        <p:nvSpPr>
          <p:cNvPr id="29" name="Text 21"/>
          <p:cNvSpPr/>
          <p:nvPr/>
        </p:nvSpPr>
        <p:spPr>
          <a:xfrm>
            <a:off x="7790734" y="1605558"/>
            <a:ext cx="4205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8BC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5</a:t>
            </a:r>
            <a:endParaRPr lang="en-US" sz="700" dirty="0"/>
          </a:p>
        </p:txBody>
      </p:sp>
      <p:sp>
        <p:nvSpPr>
          <p:cNvPr id="30" name="Shape 22"/>
          <p:cNvSpPr/>
          <p:nvPr/>
        </p:nvSpPr>
        <p:spPr>
          <a:xfrm>
            <a:off x="7679531" y="1778794"/>
            <a:ext cx="642938" cy="642938"/>
          </a:xfrm>
          <a:prstGeom prst="ellipse">
            <a:avLst/>
          </a:prstGeom>
          <a:solidFill>
            <a:srgbClr val="12377A"/>
          </a:solidFill>
          <a:ln w="27432">
            <a:solidFill>
              <a:srgbClr val="1237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6700" y="1985963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615238" y="2564606"/>
            <a:ext cx="7715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웹프로그래밍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7625144" y="2803196"/>
            <a:ext cx="751712" cy="25003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 보스전 및
AI 어시스트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911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1: C프로그래밍 (튜토리얼)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91220"/>
            <a:ext cx="8001000" cy="10733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" y="1191220"/>
            <a:ext cx="42863" cy="1073348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85813" y="1405533"/>
            <a:ext cx="757237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D8BC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STORY SCENARIO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85813" y="1593056"/>
            <a:ext cx="7572375" cy="396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"C프로그래밍 강의실에 도착한 주인공. 기다리고 있는 것은 블록 깨기 게임이었다. 
특수 효과들을 파악하며 블록을 부수고 무사히 강의를 종료한다."</a:t>
            </a:r>
            <a:endParaRPr lang="en-US" sz="1050" b="1" dirty="0"/>
          </a:p>
        </p:txBody>
      </p:sp>
      <p:sp>
        <p:nvSpPr>
          <p:cNvPr id="8" name="Shape 5"/>
          <p:cNvSpPr/>
          <p:nvPr/>
        </p:nvSpPr>
        <p:spPr>
          <a:xfrm>
            <a:off x="571500" y="2621756"/>
            <a:ext cx="3857625" cy="1293019"/>
          </a:xfrm>
          <a:prstGeom prst="rect">
            <a:avLst/>
          </a:prstGeom>
          <a:solidFill>
            <a:srgbClr val="12377A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846784"/>
            <a:ext cx="257175" cy="2571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5863" y="2836069"/>
            <a:ext cx="30289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게임 시스템 입문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85863" y="3153966"/>
            <a:ext cx="302895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패들 이동, 공의 반사 등 </a:t>
            </a:r>
            <a:r>
              <a:rPr lang="en-US" sz="850" b="1" dirty="0">
                <a:solidFill>
                  <a:srgbClr val="3D8BC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기본적인 조작 체계</a:t>
            </a: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익히는 단계입니다. 게임의 전체적인 흐름을 파악할 수 있도록 구성되었습니다.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14875" y="2621756"/>
            <a:ext cx="3857625" cy="1293019"/>
          </a:xfrm>
          <a:prstGeom prst="rect">
            <a:avLst/>
          </a:prstGeom>
          <a:solidFill>
            <a:srgbClr val="12377A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846784"/>
            <a:ext cx="225028" cy="2571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97091" y="2836069"/>
            <a:ext cx="306109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추가 기능 경험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297091" y="3153966"/>
            <a:ext cx="3061097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블록 파괴 시 발생하는 </a:t>
            </a:r>
            <a:r>
              <a:rPr lang="en-US" sz="850" b="1" dirty="0">
                <a:solidFill>
                  <a:srgbClr val="3D8BC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특수 효과(바 크기 변환, 투명도 등)</a:t>
            </a: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사전에 경험하여 이후 고난도 스테이지를 대비합니다.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911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2: 이산수학 (논리 게이트)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91220"/>
            <a:ext cx="8001000" cy="9269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" y="1191220"/>
            <a:ext cx="42863" cy="926902"/>
          </a:xfrm>
          <a:prstGeom prst="rect">
            <a:avLst/>
          </a:prstGeom>
          <a:solidFill>
            <a:srgbClr val="3D8BC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85813" y="1405533"/>
            <a:ext cx="757237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STORY SCENARIO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85813" y="1605558"/>
            <a:ext cx="2498136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"2교시 이산수학 시간. 이번 강의도 마찬가지였다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85813" y="1760934"/>
            <a:ext cx="4134222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수업에서 배운 논리 게이트(GATE)들을 활용한 블록들을 부수며 강의를 종료한다."</a:t>
            </a:r>
            <a:endParaRPr lang="en-US" sz="850" b="1" dirty="0"/>
          </a:p>
        </p:txBody>
      </p:sp>
      <p:sp>
        <p:nvSpPr>
          <p:cNvPr id="9" name="Shape 6"/>
          <p:cNvSpPr/>
          <p:nvPr/>
        </p:nvSpPr>
        <p:spPr>
          <a:xfrm>
            <a:off x="571500" y="2475309"/>
            <a:ext cx="2524116" cy="139660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71500" y="2475309"/>
            <a:ext cx="2524116" cy="28575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669" y="2666405"/>
            <a:ext cx="285750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0094" y="3089672"/>
            <a:ext cx="216692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 Gate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50094" y="3343275"/>
            <a:ext cx="21669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가지 조건이 모두 충족되어야 파괴되는 연쇄형 블록 기믹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309928" y="2475309"/>
            <a:ext cx="2524116" cy="139660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3309928" y="2475309"/>
            <a:ext cx="2524116" cy="28575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097" y="2666405"/>
            <a:ext cx="285750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88522" y="3089672"/>
            <a:ext cx="216692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 Gate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488522" y="3343275"/>
            <a:ext cx="21669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경로 중 하나만 타격해도 활성화되는 유연한 파괴 기믹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6048356" y="2475309"/>
            <a:ext cx="2524144" cy="139660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048356" y="2475309"/>
            <a:ext cx="2524144" cy="28575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553" y="2666405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26950" y="3089672"/>
            <a:ext cx="216695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 Gate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226950" y="3343275"/>
            <a:ext cx="216695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상태를 반전시켜 주변 블록의 무적 상태를 해제하는 트리거 기믹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71500" y="4129088"/>
            <a:ext cx="8001000" cy="369689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4256782"/>
            <a:ext cx="85725" cy="1143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8694" y="4236244"/>
            <a:ext cx="45021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전략적 플레이: 논리 구조에 따른 최적의 파괴 순서를 설계하여 효율적으로 클리어하세요.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911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3: 객체지향 프로그래밍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19783"/>
            <a:ext cx="8001000" cy="59650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" y="1119783"/>
            <a:ext cx="42863" cy="596503"/>
          </a:xfrm>
          <a:prstGeom prst="rect">
            <a:avLst/>
          </a:prstGeom>
          <a:solidFill>
            <a:srgbClr val="3D8BC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85813" y="1275159"/>
            <a:ext cx="4772081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"이번 강의는 객체지향 프로그래밍이다. private, protected, public을 활용한 블록들이 나타났다.</a:t>
            </a:r>
            <a:endParaRPr lang="en-US" sz="850" b="1" dirty="0"/>
          </a:p>
        </p:txBody>
      </p:sp>
      <p:sp>
        <p:nvSpPr>
          <p:cNvPr id="7" name="Text 4"/>
          <p:cNvSpPr/>
          <p:nvPr/>
        </p:nvSpPr>
        <p:spPr>
          <a:xfrm>
            <a:off x="785813" y="1430536"/>
            <a:ext cx="4193716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강의에서 배운 내용대로 getter 함수블록을 이용해서 보호된 블록들을 모두 부순다."</a:t>
            </a:r>
            <a:endParaRPr lang="en-US" sz="850" b="1" dirty="0"/>
          </a:p>
        </p:txBody>
      </p:sp>
      <p:sp>
        <p:nvSpPr>
          <p:cNvPr id="8" name="Shape 5"/>
          <p:cNvSpPr/>
          <p:nvPr/>
        </p:nvSpPr>
        <p:spPr>
          <a:xfrm>
            <a:off x="571500" y="2002036"/>
            <a:ext cx="2524116" cy="1385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404919" y="2180630"/>
            <a:ext cx="857250" cy="2857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404919" y="2180630"/>
            <a:ext cx="857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PUBLIC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97707" y="2609255"/>
            <a:ext cx="10717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Getter 함수 블록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0094" y="2887861"/>
            <a:ext cx="21669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타격 시 짝이 맞는 Private 블록을 함께 제거하는 핵심 트리거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309928" y="2002036"/>
            <a:ext cx="2524116" cy="1385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143347" y="2180630"/>
            <a:ext cx="857250" cy="2857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143347" y="2180630"/>
            <a:ext cx="857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PRIVATE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032228" y="2609255"/>
            <a:ext cx="10795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캡슐화 변수 블록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88522" y="2887861"/>
            <a:ext cx="21669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일반 공으로는 파괴되지 않으며, 반드시 Public 함수를 통해서만 제거 가능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048356" y="2002036"/>
            <a:ext cx="2524144" cy="1385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881803" y="2180630"/>
            <a:ext cx="857250" cy="2857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881803" y="2180630"/>
            <a:ext cx="8572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PROTECTED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842094" y="2609255"/>
            <a:ext cx="9366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상속 계층 블록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26950" y="2887861"/>
            <a:ext cx="216695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계층 구조 내에서 부모 클래스의 변수를 제거하기 위한 특수 기믹 블록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71500" y="3673673"/>
            <a:ext cx="8001000" cy="782241"/>
          </a:xfrm>
          <a:prstGeom prst="rect">
            <a:avLst/>
          </a:prstGeom>
          <a:solidFill>
            <a:srgbClr val="1E47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3883521"/>
            <a:ext cx="257175" cy="3429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21581" y="3852267"/>
            <a:ext cx="4902287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중간 보스: Tetris 블록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221581" y="4121944"/>
            <a:ext cx="490228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계층의 블록을 제거하면 중앙에 등장. 부딪힐 때마다 무작위 특수 기능이 호출되는 보스 블록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911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Hidden Stage: 점심시간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90467" y="1969355"/>
            <a:ext cx="3985180" cy="13126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hape 2"/>
          <p:cNvSpPr/>
          <p:nvPr/>
        </p:nvSpPr>
        <p:spPr>
          <a:xfrm>
            <a:off x="490467" y="1969355"/>
            <a:ext cx="57150" cy="1312664"/>
          </a:xfrm>
          <a:prstGeom prst="rect">
            <a:avLst/>
          </a:prstGeom>
          <a:solidFill>
            <a:srgbClr val="8584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76217" y="2269393"/>
            <a:ext cx="109291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8584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STORY SCENARIO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76217" y="2542641"/>
            <a:ext cx="1215076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"학생회관으로 간 주인공.</a:t>
            </a:r>
            <a:endParaRPr lang="en-US" sz="850" b="1" dirty="0"/>
          </a:p>
        </p:txBody>
      </p:sp>
      <p:sp>
        <p:nvSpPr>
          <p:cNvPr id="8" name="Text 5"/>
          <p:cNvSpPr/>
          <p:nvPr/>
        </p:nvSpPr>
        <p:spPr>
          <a:xfrm>
            <a:off x="776217" y="2698018"/>
            <a:ext cx="1936793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하지만 평소와는 다른 기괴한 메뉴들...</a:t>
            </a:r>
            <a:endParaRPr lang="en-US" sz="850" b="1" dirty="0"/>
          </a:p>
        </p:txBody>
      </p:sp>
      <p:sp>
        <p:nvSpPr>
          <p:cNvPr id="9" name="Text 6"/>
          <p:cNvSpPr/>
          <p:nvPr/>
        </p:nvSpPr>
        <p:spPr>
          <a:xfrm>
            <a:off x="776217" y="2853394"/>
            <a:ext cx="2548868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결국 먹는 것을 포기하고 다음 강의실로 이동한다."</a:t>
            </a:r>
            <a:endParaRPr lang="en-US" sz="850" b="1" dirty="0"/>
          </a:p>
        </p:txBody>
      </p:sp>
      <p:sp>
        <p:nvSpPr>
          <p:cNvPr id="10" name="Shape 7"/>
          <p:cNvSpPr/>
          <p:nvPr/>
        </p:nvSpPr>
        <p:spPr>
          <a:xfrm>
            <a:off x="4628455" y="1914475"/>
            <a:ext cx="1285875" cy="1285875"/>
          </a:xfrm>
          <a:prstGeom prst="rect">
            <a:avLst/>
          </a:prstGeom>
          <a:solidFill>
            <a:srgbClr val="12377A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942" y="2254696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64952" y="2704752"/>
            <a:ext cx="8128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2377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정체불명 메뉴 1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914338" y="1910009"/>
            <a:ext cx="1285875" cy="1285875"/>
          </a:xfrm>
          <a:prstGeom prst="rect">
            <a:avLst/>
          </a:prstGeom>
          <a:solidFill>
            <a:srgbClr val="12377A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394" y="2250230"/>
            <a:ext cx="385763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07985" y="2700287"/>
            <a:ext cx="6985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2377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기괴한 조합 2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7200213" y="1914475"/>
            <a:ext cx="1285875" cy="1285875"/>
          </a:xfrm>
          <a:prstGeom prst="rect">
            <a:avLst/>
          </a:prstGeom>
          <a:solidFill>
            <a:srgbClr val="12377A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4563" y="2254696"/>
            <a:ext cx="257175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3860" y="2704752"/>
            <a:ext cx="6985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2377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꿈속의 식단 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4911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4: 자료구조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48345"/>
            <a:ext cx="8001000" cy="6743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" y="1048345"/>
            <a:ext cx="42863" cy="674359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14375" y="1191220"/>
            <a:ext cx="7715250" cy="162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"점심을 거른 채 도착한 강의실, 화약 냄새가 진동한다. 블록들은 거대한 트리 구조를 이루고 있으며, 리프 노드들은 Stack과 Queue로 구성되어 있다."</a:t>
            </a:r>
            <a:endParaRPr lang="en-US" sz="900" b="1" dirty="0"/>
          </a:p>
        </p:txBody>
      </p:sp>
      <p:sp>
        <p:nvSpPr>
          <p:cNvPr id="7" name="Shape 4"/>
          <p:cNvSpPr/>
          <p:nvPr/>
        </p:nvSpPr>
        <p:spPr>
          <a:xfrm>
            <a:off x="571500" y="1937017"/>
            <a:ext cx="4208311" cy="320648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2027108" y="2308306"/>
            <a:ext cx="1297065" cy="428625"/>
          </a:xfrm>
          <a:prstGeom prst="rect">
            <a:avLst/>
          </a:prstGeom>
          <a:solidFill>
            <a:srgbClr val="3D8BC1"/>
          </a:solidFill>
          <a:ln w="18288">
            <a:solidFill>
              <a:srgbClr val="1237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012616" y="2453368"/>
            <a:ext cx="129706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ROOT 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07650" y="3264430"/>
            <a:ext cx="857250" cy="357188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507650" y="3264430"/>
            <a:ext cx="8572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Node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2936400" y="3264430"/>
            <a:ext cx="857250" cy="357188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936400" y="3264430"/>
            <a:ext cx="8572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Node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032579" y="3933165"/>
            <a:ext cx="71437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237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041" y="4066217"/>
            <a:ext cx="171450" cy="1714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50045" y="4273386"/>
            <a:ext cx="27944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237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1889829" y="3933165"/>
            <a:ext cx="71437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237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0576" y="4066217"/>
            <a:ext cx="192881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94570" y="4273386"/>
            <a:ext cx="30486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237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</a:t>
            </a:r>
            <a:endParaRPr lang="en-US" sz="600" dirty="0"/>
          </a:p>
        </p:txBody>
      </p:sp>
      <p:sp>
        <p:nvSpPr>
          <p:cNvPr id="20" name="Shape 15"/>
          <p:cNvSpPr/>
          <p:nvPr/>
        </p:nvSpPr>
        <p:spPr>
          <a:xfrm>
            <a:off x="2747079" y="3933165"/>
            <a:ext cx="71437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237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541" y="4066217"/>
            <a:ext cx="171450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964545" y="4273386"/>
            <a:ext cx="27944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237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endParaRPr lang="en-US" sz="600" dirty="0"/>
          </a:p>
        </p:txBody>
      </p:sp>
      <p:sp>
        <p:nvSpPr>
          <p:cNvPr id="23" name="Shape 17"/>
          <p:cNvSpPr/>
          <p:nvPr/>
        </p:nvSpPr>
        <p:spPr>
          <a:xfrm>
            <a:off x="3604329" y="3933165"/>
            <a:ext cx="71437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237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5076" y="4066217"/>
            <a:ext cx="192881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09070" y="4273386"/>
            <a:ext cx="30486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237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</a:t>
            </a:r>
            <a:endParaRPr lang="en-US" sz="600" dirty="0"/>
          </a:p>
        </p:txBody>
      </p:sp>
      <p:sp>
        <p:nvSpPr>
          <p:cNvPr id="26" name="Shape 19"/>
          <p:cNvSpPr/>
          <p:nvPr/>
        </p:nvSpPr>
        <p:spPr>
          <a:xfrm>
            <a:off x="5065561" y="2255276"/>
            <a:ext cx="3506939" cy="9215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5065561" y="2255276"/>
            <a:ext cx="3506939" cy="28575"/>
          </a:xfrm>
          <a:prstGeom prst="rect">
            <a:avLst/>
          </a:prstGeom>
          <a:solidFill>
            <a:srgbClr val="3D8BC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436" y="2437442"/>
            <a:ext cx="125016" cy="14287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04889" y="2412439"/>
            <a:ext cx="145799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기반 HP 시스템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208436" y="2676758"/>
            <a:ext cx="32211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블록은 내부에 저장된 원소의 수만큼 HP를 보유하며, 타격 시 무작위 특수 기능이 호출됩니다.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5065561" y="3305408"/>
            <a:ext cx="3506939" cy="9215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4"/>
          <p:cNvSpPr/>
          <p:nvPr/>
        </p:nvSpPr>
        <p:spPr>
          <a:xfrm>
            <a:off x="5065561" y="3305408"/>
            <a:ext cx="3506939" cy="28575"/>
          </a:xfrm>
          <a:prstGeom prst="rect">
            <a:avLst/>
          </a:prstGeom>
          <a:solidFill>
            <a:srgbClr val="3D8BC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8436" y="3487573"/>
            <a:ext cx="142875" cy="14287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422748" y="3462570"/>
            <a:ext cx="9366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폭탄 투하 기믹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5208436" y="3726889"/>
            <a:ext cx="32211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블록 타격 시 폭탄이 하강하며, 마우스 클릭으로 제거하지 못할 경우 패널티가 부여됩니다.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5065561" y="4426976"/>
            <a:ext cx="3506939" cy="369689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2207" y="4550206"/>
            <a:ext cx="128588" cy="1143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730794" y="4546634"/>
            <a:ext cx="23050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이스터에그: ROOT 블록 타격 시 즉시 클리어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4911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5: 웹프로그래밍 (최종 보스)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048345"/>
            <a:ext cx="8001000" cy="491468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571500" y="1048345"/>
            <a:ext cx="8001000" cy="491468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"실습 미숙과 온라인 강의 미수강, 쏟아지는 과제와 팀플... 교수님의 F학점 공격을 피해 AI 친구들과 함께 무사히 종강에 도달하라!"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8286750" y="1065451"/>
            <a:ext cx="71438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1968438"/>
            <a:ext cx="2524116" cy="23931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571500" y="1968438"/>
            <a:ext cx="2524116" cy="42863"/>
          </a:xfrm>
          <a:prstGeom prst="rect">
            <a:avLst/>
          </a:prstGeom>
          <a:solidFill>
            <a:srgbClr val="3D8BC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533841" y="2182750"/>
            <a:ext cx="599433" cy="17323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1533841" y="2182750"/>
            <a:ext cx="599433" cy="17323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</a:t>
            </a:r>
            <a:endParaRPr lang="en-US" sz="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663" y="2514935"/>
            <a:ext cx="385763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3656" y="3036429"/>
            <a:ext cx="185980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색상</a:t>
            </a:r>
            <a:r>
              <a:rPr lang="en-US" sz="1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블록 출력하기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141381" y="3356111"/>
            <a:ext cx="1384325" cy="459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play_js1 </a:t>
            </a:r>
            <a:r>
              <a:rPr lang="en-US" sz="85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배경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ko-KR" altLang="en-US" sz="85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행맨보스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행맨 블록과 색상 출력 블록
지속적인 폭탄 생성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309928" y="1968438"/>
            <a:ext cx="2524116" cy="23931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3309928" y="1968438"/>
            <a:ext cx="2524116" cy="42863"/>
          </a:xfrm>
          <a:prstGeom prst="rect">
            <a:avLst/>
          </a:prstGeom>
          <a:solidFill>
            <a:srgbClr val="3D8BC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4272269" y="2182750"/>
            <a:ext cx="599433" cy="17323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4272269" y="2182750"/>
            <a:ext cx="599433" cy="17323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B556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</a:t>
            </a:r>
            <a:endParaRPr lang="en-US" sz="7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660" y="2514935"/>
            <a:ext cx="428625" cy="342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157244" y="3036429"/>
            <a:ext cx="829484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팀플과 과제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3895688" y="3356111"/>
            <a:ext cx="1352569" cy="459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play_js2 </a:t>
            </a:r>
            <a:r>
              <a:rPr lang="en-US" sz="85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배경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ko-KR" alt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웃음보스</a:t>
            </a: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팀플/과제 특수 공 생성
폭탄 생성이 더욱 빈번해짐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048356" y="1968438"/>
            <a:ext cx="2524144" cy="23931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6048356" y="1968438"/>
            <a:ext cx="2524144" cy="4286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6892212" y="2182750"/>
            <a:ext cx="836433" cy="173236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6892212" y="2182750"/>
            <a:ext cx="836433" cy="17323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5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PHASE</a:t>
            </a:r>
            <a:endParaRPr lang="en-US" sz="7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6116" y="2514935"/>
            <a:ext cx="428625" cy="342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16688" y="3036429"/>
            <a:ext cx="118748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어시스트 탈출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675416" y="3356111"/>
            <a:ext cx="12700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F학점 위기 상황 발생
AI의 도움으로 과제 해결
무사히 수업 종료 및 종강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6691238" y="3977618"/>
            <a:ext cx="290522" cy="126802"/>
          </a:xfrm>
          <a:prstGeom prst="round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/>
          <p:nvPr/>
        </p:nvSpPr>
        <p:spPr>
          <a:xfrm>
            <a:off x="6691238" y="3977618"/>
            <a:ext cx="290522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2377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GPT</a:t>
            </a:r>
            <a:endParaRPr lang="en-US" sz="600" dirty="0"/>
          </a:p>
        </p:txBody>
      </p:sp>
      <p:sp>
        <p:nvSpPr>
          <p:cNvPr id="30" name="Shape 23"/>
          <p:cNvSpPr/>
          <p:nvPr/>
        </p:nvSpPr>
        <p:spPr>
          <a:xfrm>
            <a:off x="7053197" y="3977618"/>
            <a:ext cx="404878" cy="126802"/>
          </a:xfrm>
          <a:prstGeom prst="round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/>
          <p:nvPr/>
        </p:nvSpPr>
        <p:spPr>
          <a:xfrm>
            <a:off x="7053197" y="3977618"/>
            <a:ext cx="404878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2377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Gemini</a:t>
            </a:r>
            <a:endParaRPr lang="en-US" sz="600" dirty="0"/>
          </a:p>
        </p:txBody>
      </p:sp>
      <p:sp>
        <p:nvSpPr>
          <p:cNvPr id="32" name="Shape 25"/>
          <p:cNvSpPr/>
          <p:nvPr/>
        </p:nvSpPr>
        <p:spPr>
          <a:xfrm>
            <a:off x="7529513" y="3977618"/>
            <a:ext cx="400106" cy="126802"/>
          </a:xfrm>
          <a:prstGeom prst="round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/>
          <p:cNvSpPr/>
          <p:nvPr/>
        </p:nvSpPr>
        <p:spPr>
          <a:xfrm>
            <a:off x="7529513" y="3977618"/>
            <a:ext cx="400106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2377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Claude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911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시스템 핵심: 특수 블록 기믹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914023"/>
            <a:ext cx="3474458" cy="13851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" y="1914023"/>
            <a:ext cx="42863" cy="1385106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85813" y="2128335"/>
            <a:ext cx="304583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 호출 기반 구현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813" y="2467663"/>
            <a:ext cx="304583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벽돌의 속성에 특정 함수를 직접 삽입하여, 공과 충돌하는 순간 해당 함수를 동적으로 호출하는 유연한 아키텍처를 설계했습니다.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77748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5813" y="3656316"/>
            <a:ext cx="2400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 지향적 설계를 통한 기믹 확장성 확보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56354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5813" y="3934923"/>
            <a:ext cx="25646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충돌 이벤트 발생 시 즉각적인 상태 변화 반영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34960"/>
            <a:ext cx="128588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5813" y="4213529"/>
            <a:ext cx="2364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 타격을 넘어선 다양한 상호작용 구현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5059059" y="2074366"/>
            <a:ext cx="2857500" cy="457200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5059059" y="2074366"/>
            <a:ext cx="2857500" cy="4572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벽돌 객체 생성 및 함수 속성 정의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5059059" y="2674441"/>
            <a:ext cx="2857500" cy="457200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/>
          <p:nvPr/>
        </p:nvSpPr>
        <p:spPr>
          <a:xfrm>
            <a:off x="5059059" y="2674441"/>
            <a:ext cx="2857500" cy="4572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공(Ball)과 벽돌의 충돌 감지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5059059" y="3274516"/>
            <a:ext cx="2857500" cy="457200"/>
          </a:xfrm>
          <a:prstGeom prst="rect">
            <a:avLst/>
          </a:prstGeom>
          <a:solidFill>
            <a:srgbClr val="3D8BC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5059059" y="3274516"/>
            <a:ext cx="2857500" cy="4572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삽입된 특수 함수(Gimmick) 호출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059059" y="3874591"/>
            <a:ext cx="2857500" cy="457200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5059059" y="3874591"/>
            <a:ext cx="2857500" cy="4572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게임 상태 업데이트 및 시각 효과 발동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231" y="2567285"/>
            <a:ext cx="107156" cy="142875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231" y="3167360"/>
            <a:ext cx="107156" cy="142875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231" y="3767435"/>
            <a:ext cx="107156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001000" cy="49113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주요 특수 기능 요약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62658"/>
            <a:ext cx="8001000" cy="24145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71500" y="1262658"/>
            <a:ext cx="2000250" cy="478631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71500" y="1262658"/>
            <a:ext cx="2000250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기능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71750" y="1262658"/>
            <a:ext cx="3200400" cy="478631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2571750" y="1262658"/>
            <a:ext cx="3200400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효과 및 특징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72150" y="1262658"/>
            <a:ext cx="2800350" cy="478631"/>
          </a:xfrm>
          <a:prstGeom prst="rect">
            <a:avLst/>
          </a:prstGeom>
          <a:solidFill>
            <a:srgbClr val="1237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772150" y="1262658"/>
            <a:ext cx="2800350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플레이어 대응 전략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894880"/>
            <a:ext cx="214313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35844" y="1884164"/>
            <a:ext cx="7144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바 크기 변환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571750" y="1741289"/>
            <a:ext cx="3200400" cy="482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실시간으로 패들의 크기가 증감하여 난이도 조절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915025" y="1909167"/>
            <a:ext cx="1135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D8BC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파괴 순서 전략 수립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050909" y="1909167"/>
            <a:ext cx="130019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및 정밀한 컨트롤 요구</a:t>
            </a:r>
            <a:endParaRPr lang="en-US" sz="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380655"/>
            <a:ext cx="214313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35844" y="2369939"/>
            <a:ext cx="7428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Bomb (폭탄)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571750" y="2223492"/>
            <a:ext cx="3200400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블록 타격 시 하강하는 폭탄 생성 (패널티 부여)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915025" y="2394942"/>
            <a:ext cx="12644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D8BC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마우스 직접 클릭 제거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179497" y="2394942"/>
            <a:ext cx="110016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멀티태스킹 유도</a:t>
            </a:r>
            <a:endParaRPr lang="en-US" sz="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866430"/>
            <a:ext cx="214313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35844" y="2855714"/>
            <a:ext cx="6786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투명도 감소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2571750" y="2709267"/>
            <a:ext cx="3200400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공의 시인성을 낮추어 궤적 파악 방해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915025" y="2880717"/>
            <a:ext cx="1135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D8BC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진행 방향 집중 예측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050909" y="2880717"/>
            <a:ext cx="104301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및 반사 신경 강화</a:t>
            </a:r>
            <a:endParaRPr lang="en-US" sz="9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352205"/>
            <a:ext cx="214313" cy="1714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35844" y="3341489"/>
            <a:ext cx="5500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2377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무적 블록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2571750" y="3195042"/>
            <a:ext cx="3200400" cy="482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일반적인 방법으로 파괴 불가능한 상태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915025" y="3366492"/>
            <a:ext cx="11358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D8BC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특정 조건 해제 기믹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7050909" y="3366492"/>
            <a:ext cx="104301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수행 후 타격 가능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571500" y="3891558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584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상세한 스테이지별 특징은 이어지는 시연을 통해 설명드리겠습니다.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730</Words>
  <Application>Microsoft Office PowerPoint</Application>
  <PresentationFormat>화면 슬라이드 쇼(16:9)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Inter</vt:lpstr>
      <vt:lpstr>Inter Bold</vt:lpstr>
      <vt:lpstr>Inter ExtraBold</vt:lpstr>
      <vt:lpstr>Inter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김기범</cp:lastModifiedBy>
  <cp:revision>3</cp:revision>
  <dcterms:created xsi:type="dcterms:W3CDTF">2026-06-07T10:31:50Z</dcterms:created>
  <dcterms:modified xsi:type="dcterms:W3CDTF">2026-06-07T10:40:29Z</dcterms:modified>
</cp:coreProperties>
</file>